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-2103120"/>
            <a:ext cx="6949440" cy="69494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4A3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-1280160"/>
            <a:ext cx="5303520" cy="5303520"/>
          </a:xfrm>
          <a:prstGeom prst="ellipse">
            <a:avLst/>
          </a:prstGeom>
          <a:solidFill>
            <a:srgbClr val="FFFFFF">
              <a:alpha val="0"/>
            </a:srgbClr>
          </a:solidFill>
          <a:ln w="22225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8360" y="-457200"/>
            <a:ext cx="3657600" cy="36576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4A3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463040" cy="14630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0661" y="1035101"/>
            <a:ext cx="672998" cy="6729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 ·  ON-DEVICE AI  ·  AUTOMATION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8778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Restaurant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runs the whole restaurant — tables and waitlists, orders and QR payments, live inventory, staff and payroll — while local AI models read every piece of guest feedback.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1331366" cy="420624"/>
          </a:xfrm>
          <a:prstGeom prst="roundRect">
            <a:avLst>
              <a:gd name="adj" fmla="val 50000"/>
            </a:avLst>
          </a:prstGeom>
          <a:solidFill>
            <a:srgbClr val="4A362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74920"/>
            <a:ext cx="13313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55494" y="5074920"/>
            <a:ext cx="1671523" cy="420624"/>
          </a:xfrm>
          <a:prstGeom prst="roundRect">
            <a:avLst>
              <a:gd name="adj" fmla="val 50000"/>
            </a:avLst>
          </a:prstGeom>
          <a:solidFill>
            <a:srgbClr val="4A362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55494" y="5074920"/>
            <a:ext cx="16715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Billing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28186" y="5074920"/>
            <a:ext cx="1076249" cy="420624"/>
          </a:xfrm>
          <a:prstGeom prst="roundRect">
            <a:avLst>
              <a:gd name="adj" fmla="val 50000"/>
            </a:avLst>
          </a:prstGeom>
          <a:solidFill>
            <a:srgbClr val="4A362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28186" y="5074920"/>
            <a:ext cx="10762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05602" y="5074920"/>
            <a:ext cx="736092" cy="420624"/>
          </a:xfrm>
          <a:prstGeom prst="roundRect">
            <a:avLst>
              <a:gd name="adj" fmla="val 50000"/>
            </a:avLst>
          </a:prstGeom>
          <a:solidFill>
            <a:srgbClr val="4A362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5602" y="5074920"/>
            <a:ext cx="736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2862" y="5074920"/>
            <a:ext cx="1246327" cy="420624"/>
          </a:xfrm>
          <a:prstGeom prst="roundRect">
            <a:avLst>
              <a:gd name="adj" fmla="val 50000"/>
            </a:avLst>
          </a:prstGeom>
          <a:solidFill>
            <a:srgbClr val="4A362B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2862" y="5074920"/>
            <a:ext cx="1246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Rudhran sai</a:t>
            </a:r>
            <a:pPr indent="0" marL="0">
              <a:buNone/>
            </a:pPr>
            <a:r>
              <a:rPr lang="en-US" sz="130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9496" y="16002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73936" y="1783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3936" y="21671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restaurants bleed revenue, and what we set out to build.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0216" y="16002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74536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534656" y="1783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4656" y="21671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technologies behind each layer — and why each was chosen.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" y="3319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73936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3936" y="37216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guest’s journey end-to-end, plus everything that runs by itself.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0216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74536" y="3319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534656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34656" y="37216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hard problems met during development, and how each was solved.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9496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3816" y="4873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773936" y="4892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73936" y="52760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roadmap from a working prototype to a deployable product.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0216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74536" y="4873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534656" y="4892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34656" y="52760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achieved, by the numbers — and the biggest lesson learned.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restaurant is a juggling act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995" y="2154875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947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and forgotten reminders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417320" y="224942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live in a paper diary. Nobody calls the guest back, and empty tables cost a full sitting.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3090672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95" y="3233867"/>
            <a:ext cx="243962" cy="243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30266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 that never talk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417320" y="33284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Reservations, billing, stock, staff and reviews sit in separate silos — nothing reconciles.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85800" y="4169664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" y="4312859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1056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runs out silently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417320" y="44074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discovers the empty shelf mid-service; the dish is 86’d and the sale is lost.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85800" y="5248656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95" y="5391851"/>
            <a:ext cx="243962" cy="2439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184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pours in, nobody reads it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417320" y="5486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pile up across channels. Patterns go unseen until they become 1-star averages.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903720" y="1481328"/>
            <a:ext cx="4617720" cy="4709160"/>
          </a:xfrm>
          <a:prstGeom prst="roundRect">
            <a:avLst>
              <a:gd name="adj" fmla="val 2376"/>
            </a:avLst>
          </a:prstGeom>
          <a:solidFill>
            <a:srgbClr val="3B2A21"/>
          </a:solidFill>
          <a:ln/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2694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269480" y="2176272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 restaurants lose revenue and guests because daily operations are manual, fragmented and reactive — and no single affordable system connects the front of house to the kitchen and to the numbers.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269480" y="3785616"/>
            <a:ext cx="3931920" cy="0"/>
          </a:xfrm>
          <a:prstGeom prst="line">
            <a:avLst/>
          </a:prstGeom>
          <a:noFill/>
          <a:ln w="19050">
            <a:solidFill>
              <a:srgbClr val="4A362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269480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69480" y="42976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application that manages tables, orders, payments, inventory, staff and feedback end-to-end — AI does the reading, and every notification reaches the guest on its 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" y="1810512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43" y="1953707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1016" y="1810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936" y="25146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Tailwind CSS 4 · Vite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0936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responsive dashboard serving both manager and customer roles.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88536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1810512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763" y="1953707"/>
            <a:ext cx="243962" cy="2439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02936" y="1810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62856" y="25146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 · TypeScript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62856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typed REST API powers every module end-to-end.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220456" y="15544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76488" y="1810512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83" y="1953707"/>
            <a:ext cx="243962" cy="2439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34856" y="1810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94776" y="25146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11 FK constraints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94776" y="2907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ties orders, stock and billing together.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56616" y="4023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2648" y="4279392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" y="4422587"/>
            <a:ext cx="243962" cy="24396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71016" y="4279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fully on-device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30936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Transformers.js · DistilBERT · BART-MNLI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30936" y="5376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 and category tagging at zero cost per review.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288536" y="4023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44568" y="4279392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763" y="4422587"/>
            <a:ext cx="243962" cy="24396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02936" y="4279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4562856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· Gmail SMTP · QR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562856" y="5376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confirmations, reminders and scannable payment links.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8220456" y="4023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476488" y="4279392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83" y="4422587"/>
            <a:ext cx="243962" cy="24396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134856" y="4279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QA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8494776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· rate limits · HMAC · Vitest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8494776" y="53766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logins and payments, backed by 18 unit tests.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FLOW CHART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journey, end to 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21040" y="475488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429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 house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149840" y="475488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0" y="429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kitchen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1691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" y="154533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1819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books a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" y="2130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form or walk-in; waitlist keeps overflow with quoted waits.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38728" y="1691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92424" y="154533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3392424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1819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2130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 + email fire the moment the booking lands.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91656" y="1691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45352" y="154533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24535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56248" y="1819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Seated &amp; ordering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56248" y="2130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taken against the table, straight from the digital menu.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44584" y="1691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98280" y="154533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909828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09176" y="1819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with QR link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09176" y="2130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raised; an unguessable payment token becomes a QR code.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18688" y="2340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71616" y="2340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24544" y="2340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488168" y="3054096"/>
            <a:ext cx="0" cy="859536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244584" y="3977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98280" y="3831336"/>
            <a:ext cx="384048" cy="384048"/>
          </a:xfrm>
          <a:prstGeom prst="ellipse">
            <a:avLst/>
          </a:prstGeom>
          <a:solidFill>
            <a:srgbClr val="3B2A21"/>
          </a:solidFill>
          <a:ln/>
        </p:spPr>
      </p:sp>
      <p:sp>
        <p:nvSpPr>
          <p:cNvPr id="38" name="Text 36"/>
          <p:cNvSpPr/>
          <p:nvPr/>
        </p:nvSpPr>
        <p:spPr>
          <a:xfrm>
            <a:off x="90982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09176" y="4105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scans &amp; pays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09176" y="4416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happens on the guest’s own phone — no card machine.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91656" y="3977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45352" y="3831336"/>
            <a:ext cx="384048" cy="384048"/>
          </a:xfrm>
          <a:prstGeom prst="ellipse">
            <a:avLst/>
          </a:prstGeom>
          <a:solidFill>
            <a:srgbClr val="3B2A21"/>
          </a:solidFill>
          <a:ln/>
        </p:spPr>
      </p:sp>
      <p:sp>
        <p:nvSpPr>
          <p:cNvPr id="43" name="Text 41"/>
          <p:cNvSpPr/>
          <p:nvPr/>
        </p:nvSpPr>
        <p:spPr>
          <a:xfrm>
            <a:off x="624535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56248" y="4105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verified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556248" y="4416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signature checked before anything is marked as paid.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538728" y="3977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392424" y="3831336"/>
            <a:ext cx="384048" cy="384048"/>
          </a:xfrm>
          <a:prstGeom prst="ellipse">
            <a:avLst/>
          </a:prstGeom>
          <a:solidFill>
            <a:srgbClr val="3B2A21"/>
          </a:solidFill>
          <a:ln/>
        </p:spPr>
      </p:sp>
      <p:sp>
        <p:nvSpPr>
          <p:cNvPr id="48" name="Text 46"/>
          <p:cNvSpPr/>
          <p:nvPr/>
        </p:nvSpPr>
        <p:spPr>
          <a:xfrm>
            <a:off x="3392424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703320" y="4105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auto-deducted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703320" y="4416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recipes deduct exact ingredient quantities per serving.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5800" y="39776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9496" y="3831336"/>
            <a:ext cx="384048" cy="384048"/>
          </a:xfrm>
          <a:prstGeom prst="ellipse">
            <a:avLst/>
          </a:prstGeom>
          <a:solidFill>
            <a:srgbClr val="3B2A21"/>
          </a:solidFill>
          <a:ln/>
        </p:spPr>
      </p:sp>
      <p:sp>
        <p:nvSpPr>
          <p:cNvPr id="53" name="Text 51"/>
          <p:cNvSpPr/>
          <p:nvPr/>
        </p:nvSpPr>
        <p:spPr>
          <a:xfrm>
            <a:off x="539496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50392" y="41056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&amp; records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50392" y="4416552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sent; revenue, stock and dashboards update live.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924544" y="4626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headEnd type="triangle"/>
          </a:ln>
        </p:spPr>
      </p:sp>
      <p:sp>
        <p:nvSpPr>
          <p:cNvPr id="57" name="Shape 55"/>
          <p:cNvSpPr/>
          <p:nvPr/>
        </p:nvSpPr>
        <p:spPr>
          <a:xfrm>
            <a:off x="6071616" y="4626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headEnd type="triangle"/>
          </a:ln>
        </p:spPr>
      </p:sp>
      <p:sp>
        <p:nvSpPr>
          <p:cNvPr id="58" name="Shape 56"/>
          <p:cNvSpPr/>
          <p:nvPr/>
        </p:nvSpPr>
        <p:spPr>
          <a:xfrm>
            <a:off x="3218688" y="4626864"/>
            <a:ext cx="27432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automatic — after step 1, no staff action is needed until the food is cooked.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FLOW CHART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Meanwhile, three engines run by themselves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566928" cy="566928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71" y="1862999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45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engine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4173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minutes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1600200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upcoming reservations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66944" y="1975104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504688" y="1600200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600200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2-hour window?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79792" y="1975104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717536" y="1600200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688" y="1600200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first, WhatsApp fallback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92640" y="1975104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930384" y="1600200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03536" y="1600200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sent — never repeats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3337560"/>
            <a:ext cx="566928" cy="566928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71" y="3490631"/>
            <a:ext cx="260787" cy="26078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17320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watch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14173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291840" y="3227832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64992" y="3227832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stock to minimums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266944" y="3602736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5504688" y="3227832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77840" y="3227832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list assembled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479792" y="3602736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7717536" y="3227832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790688" y="3227832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alerted on WhatsApp + email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9692640" y="3602736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9930384" y="3227832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003536" y="3227832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alert per day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85800" y="4965192"/>
            <a:ext cx="566928" cy="566928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71" y="5118263"/>
            <a:ext cx="260787" cy="260787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417320" y="4901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AI</a:t>
            </a:r>
            <a:endParaRPr lang="en-US" sz="1450" dirty="0"/>
          </a:p>
        </p:txBody>
      </p:sp>
      <p:sp>
        <p:nvSpPr>
          <p:cNvPr id="41" name="Text 36"/>
          <p:cNvSpPr/>
          <p:nvPr/>
        </p:nvSpPr>
        <p:spPr>
          <a:xfrm>
            <a:off x="1417320" y="5239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review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3291840" y="4855464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64992" y="4855464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review arrives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5266944" y="5230368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5504688" y="4855464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577840" y="4855464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scores sentiment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7479792" y="5230368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7717536" y="4855464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EFE9DA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790688" y="4855464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BART-MNLI tags categories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9692640" y="5230368"/>
            <a:ext cx="201168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  <a:tailEnd type="triangle"/>
          </a:ln>
        </p:spPr>
      </p:sp>
      <p:sp>
        <p:nvSpPr>
          <p:cNvPr id="51" name="Shape 46"/>
          <p:cNvSpPr/>
          <p:nvPr/>
        </p:nvSpPr>
        <p:spPr>
          <a:xfrm>
            <a:off x="9930384" y="4855464"/>
            <a:ext cx="1938528" cy="749808"/>
          </a:xfrm>
          <a:prstGeom prst="roundRect">
            <a:avLst>
              <a:gd name="adj" fmla="val 9756"/>
            </a:avLst>
          </a:prstGeom>
          <a:solidFill>
            <a:srgbClr val="DCE7E0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0003536" y="4855464"/>
            <a:ext cx="1792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on dashboard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reminded, managers are warned, and reviews are read — with zero staff time spent.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3533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0" y="1353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929384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995" y="2072579"/>
            <a:ext cx="243962" cy="24396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17320" y="1664208"/>
            <a:ext cx="4434840" cy="1060704"/>
          </a:xfrm>
          <a:prstGeom prst="roundRect">
            <a:avLst>
              <a:gd name="adj" fmla="val 7759"/>
            </a:avLst>
          </a:prstGeom>
          <a:solidFill>
            <a:srgbClr val="EFE9DA"/>
          </a:solidFill>
          <a:ln/>
        </p:spPr>
      </p:sp>
      <p:sp>
        <p:nvSpPr>
          <p:cNvPr id="13" name="Text 10"/>
          <p:cNvSpPr/>
          <p:nvPr/>
        </p:nvSpPr>
        <p:spPr>
          <a:xfrm>
            <a:off x="1664208" y="1664208"/>
            <a:ext cx="3977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was slow, rate-limited and priced per review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5740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1664208"/>
            <a:ext cx="5120640" cy="1060704"/>
          </a:xfrm>
          <a:prstGeom prst="roundRect">
            <a:avLst>
              <a:gd name="adj" fmla="val 7759"/>
            </a:avLst>
          </a:prstGeom>
          <a:solidFill>
            <a:srgbClr val="DCE7E0"/>
          </a:solidFill>
          <a:ln/>
        </p:spPr>
      </p:sp>
      <p:sp>
        <p:nvSpPr>
          <p:cNvPr id="16" name="Text 12"/>
          <p:cNvSpPr/>
          <p:nvPr/>
        </p:nvSpPr>
        <p:spPr>
          <a:xfrm>
            <a:off x="6647688" y="17739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both models on-device with Transformers.js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47688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BART now run locally — free, private, and available offline.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85800" y="3136392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" y="3279587"/>
            <a:ext cx="243962" cy="24396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417320" y="2871216"/>
            <a:ext cx="4434840" cy="1060704"/>
          </a:xfrm>
          <a:prstGeom prst="roundRect">
            <a:avLst>
              <a:gd name="adj" fmla="val 7759"/>
            </a:avLst>
          </a:prstGeom>
          <a:solidFill>
            <a:srgbClr val="EFE9DA"/>
          </a:solidFill>
          <a:ln/>
        </p:spPr>
      </p:sp>
      <p:sp>
        <p:nvSpPr>
          <p:cNvPr id="21" name="Text 16"/>
          <p:cNvSpPr/>
          <p:nvPr/>
        </p:nvSpPr>
        <p:spPr>
          <a:xfrm>
            <a:off x="1664208" y="2871216"/>
            <a:ext cx="3977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silently drops messages after 24 hours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264408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00800" y="2871216"/>
            <a:ext cx="5120640" cy="1060704"/>
          </a:xfrm>
          <a:prstGeom prst="roundRect">
            <a:avLst>
              <a:gd name="adj" fmla="val 7759"/>
            </a:avLst>
          </a:prstGeom>
          <a:solidFill>
            <a:srgbClr val="DCE7E0"/>
          </a:solidFill>
          <a:ln/>
        </p:spPr>
      </p:sp>
      <p:sp>
        <p:nvSpPr>
          <p:cNvPr id="24" name="Text 18"/>
          <p:cNvSpPr/>
          <p:nvPr/>
        </p:nvSpPr>
        <p:spPr>
          <a:xfrm>
            <a:off x="6647688" y="29809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Meta templates + number normalisation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47688" y="33101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Business-initiated messages always deliver, to any phone format guests type.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85800" y="4343400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95" y="4486595"/>
            <a:ext cx="243962" cy="24396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417320" y="4078224"/>
            <a:ext cx="4434840" cy="1060704"/>
          </a:xfrm>
          <a:prstGeom prst="roundRect">
            <a:avLst>
              <a:gd name="adj" fmla="val 7759"/>
            </a:avLst>
          </a:prstGeom>
          <a:solidFill>
            <a:srgbClr val="EFE9DA"/>
          </a:solidFill>
          <a:ln/>
        </p:spPr>
      </p:sp>
      <p:sp>
        <p:nvSpPr>
          <p:cNvPr id="29" name="Text 22"/>
          <p:cNvSpPr/>
          <p:nvPr/>
        </p:nvSpPr>
        <p:spPr>
          <a:xfrm>
            <a:off x="1664208" y="4078224"/>
            <a:ext cx="3977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stored as free text — reminders never fired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4471416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400800" y="4078224"/>
            <a:ext cx="5120640" cy="1060704"/>
          </a:xfrm>
          <a:prstGeom prst="roundRect">
            <a:avLst>
              <a:gd name="adj" fmla="val 7759"/>
            </a:avLst>
          </a:prstGeom>
          <a:solidFill>
            <a:srgbClr val="DCE7E0"/>
          </a:solidFill>
          <a:ln/>
        </p:spPr>
      </p:sp>
      <p:sp>
        <p:nvSpPr>
          <p:cNvPr id="32" name="Text 24"/>
          <p:cNvSpPr/>
          <p:nvPr/>
        </p:nvSpPr>
        <p:spPr>
          <a:xfrm>
            <a:off x="6647688" y="41879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every time to ISO the moment it enters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47688" y="45171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"20:00" becomes a real timestamp; junk input is rejected with a clear error.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85800" y="5550408"/>
            <a:ext cx="530352" cy="530352"/>
          </a:xfrm>
          <a:prstGeom prst="ellipse">
            <a:avLst/>
          </a:prstGeom>
          <a:solidFill>
            <a:srgbClr val="3B2A21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95" y="5693603"/>
            <a:ext cx="243962" cy="24396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417320" y="5285232"/>
            <a:ext cx="4434840" cy="1060704"/>
          </a:xfrm>
          <a:prstGeom prst="roundRect">
            <a:avLst>
              <a:gd name="adj" fmla="val 7759"/>
            </a:avLst>
          </a:prstGeom>
          <a:solidFill>
            <a:srgbClr val="EFE9DA"/>
          </a:solidFill>
          <a:ln/>
        </p:spPr>
      </p:sp>
      <p:sp>
        <p:nvSpPr>
          <p:cNvPr id="37" name="Text 28"/>
          <p:cNvSpPr/>
          <p:nvPr/>
        </p:nvSpPr>
        <p:spPr>
          <a:xfrm>
            <a:off x="1664208" y="5285232"/>
            <a:ext cx="3977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logins and data were open to abuse</a:t>
            </a:r>
            <a:endParaRPr lang="en-US" sz="12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5678424"/>
            <a:ext cx="274320" cy="27432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400800" y="5285232"/>
            <a:ext cx="5120640" cy="1060704"/>
          </a:xfrm>
          <a:prstGeom prst="roundRect">
            <a:avLst>
              <a:gd name="adj" fmla="val 7759"/>
            </a:avLst>
          </a:prstGeom>
          <a:solidFill>
            <a:srgbClr val="DCE7E0"/>
          </a:solidFill>
          <a:ln/>
        </p:spPr>
      </p:sp>
      <p:sp>
        <p:nvSpPr>
          <p:cNvPr id="40" name="Text 30"/>
          <p:cNvSpPr/>
          <p:nvPr/>
        </p:nvSpPr>
        <p:spPr>
          <a:xfrm>
            <a:off x="6647688" y="5394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webhooks, login rate limits, validated foreign keys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6647688" y="57241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payments rejected, brute force throttled, orphan rows impossible.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325880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EFE9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75720" y="-73152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— a phased roadmap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121408"/>
            <a:ext cx="10149840" cy="0"/>
          </a:xfrm>
          <a:prstGeom prst="line">
            <a:avLst/>
          </a:prstGeom>
          <a:noFill/>
          <a:ln w="38100">
            <a:solidFill>
              <a:srgbClr val="E3D9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9736" y="2020824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251460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8136" y="273405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57500"/>
            <a:ext cx="210312" cy="2103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73352" y="27157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UPI gateway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06424" y="3291840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mock gateway — the signed-webhook contract is already live.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1788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88136" y="43982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4521708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73352" y="43799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Finer-grained roles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06424" y="495604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Chef, waiter and cashier logins with audit trails.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63056" y="2020824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operations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572000" y="251460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91456" y="273405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857500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76672" y="27157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809744" y="3291840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footfall and prep quantities from sales history.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572000" y="41788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91456" y="43982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4521708"/>
            <a:ext cx="210312" cy="2103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76672" y="43799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mobile app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809744" y="495604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check-in, live tables and stock alerts in the pocket.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866376" y="2020824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30"/>
          <p:cNvSpPr/>
          <p:nvPr/>
        </p:nvSpPr>
        <p:spPr>
          <a:xfrm>
            <a:off x="827532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27532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8275320" y="2514600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8494776" y="273405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2857500"/>
            <a:ext cx="210312" cy="21031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079992" y="27157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cloud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8513064" y="3291840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deployment, several outlets, per-branch dashboards.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8275320" y="4178808"/>
            <a:ext cx="33832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sx="100000" sy="100000" kx="0" ky="0" algn="bl" rotWithShape="0" blurRad="114300" dist="25400" dir="5400000">
              <a:srgbClr val="6B5B4E">
                <a:alpha val="22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494776" y="439826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521708"/>
            <a:ext cx="210312" cy="21031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079992" y="43799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feeds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8513064" y="495604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/ Swiggy orders and reviews join the same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Restaurant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91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362B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" y="17556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0807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floor, billing, stock, staff, feedback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127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362B"/>
          </a:solidFill>
          <a:ln/>
        </p:spPr>
      </p:sp>
      <p:sp>
        <p:nvSpPr>
          <p:cNvPr id="11" name="Text 9"/>
          <p:cNvSpPr/>
          <p:nvPr/>
        </p:nvSpPr>
        <p:spPr>
          <a:xfrm>
            <a:off x="3351276" y="17556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8843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on-device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415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per review, fully private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362B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636" y="17556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36879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451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parsing, phones, rate limits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1199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4A36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11996" y="17556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08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249156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9487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the whole schema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54480" y="4069080"/>
            <a:ext cx="9079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now covers what five disconnected tools used to — </a:t>
            </a:r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E0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guest feels it</a:t>
            </a:r>
            <a:pPr algn="ct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confirmations arrive instantly, payment is a QR scan, and stock quietly balances itself after every bill.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4920"/>
            <a:ext cx="9079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unlock: running AI locally — no per-request cost, no guest data leaving the machine.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5852160" cy="585216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4A3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0" y="4114800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happy to walk through any module live.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4297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4316" y="4279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github.com/Rudhransai/ai-assisted-restaurant-management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Rudhran sai  ·  August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2026-08-09T07:28:33Z</dcterms:created>
  <dcterms:modified xsi:type="dcterms:W3CDTF">2026-08-09T07:28:34Z</dcterms:modified>
</cp:coreProperties>
</file>